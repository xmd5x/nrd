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680"/>
          </a:xfrm>
          <a:prstGeom prst="rect">
            <a:avLst/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4000" y="3744000"/>
            <a:ext cx="2160000" cy="43200"/>
          </a:xfrm>
          <a:prstGeom prst="rect">
            <a:avLst/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475999"/>
            <a:ext cx="7848000" cy="12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Админ-панель поддержки НРД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196000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77E2C3"/>
                </a:solidFill>
                <a:latin typeface="Arial"/>
              </a:rPr>
              <a:t>CJM и описание потребности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3960000"/>
            <a:ext cx="7848000" cy="503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СИБУР · ИТ-поддержка НРД/Транзит 2.0</a:t>
            </a:r>
          </a:p>
          <a:p>
            <a:pPr algn="l">
              <a:lnSpc>
                <a:spcPct val="12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Август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Потребность: типовые операции идут через поддержку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90000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Выдача прав доступа на счета, валютный контроль, регистрация ЭЦП — десятки типовых операций. Бизнес не может выполнить их сам: каждая требует заявки и ручного запуска скрипта сотрудником поддержки.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Всё через заявку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Даже типовая операция требует заявки в ITSM и участия поддержки — бизнес не может сделать её сам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67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67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Скрипты — только у поддержки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7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Десятки ps1 / python / bash-скриптов по папкам и личным архивам; запуск требует доступа к серверу по RDP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94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94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Ручной ввод в консоли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94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Read-Host / input() на сервере: ошибки копипасты; результат — в зашитую в скрипте папку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100" y="1584000"/>
            <a:ext cx="2007900" cy="1655999"/>
          </a:xfrm>
          <a:prstGeom prst="roundRect">
            <a:avLst>
              <a:gd name="adj" fmla="val 10869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2100" y="1764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313C"/>
                </a:solidFill>
                <a:latin typeface="Arial"/>
              </a:rPr>
              <a:t>Нет единой истории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2100" y="2124000"/>
            <a:ext cx="1647900" cy="10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Кто и когда сгенерировал — только по свойствам файла; единого журнала нет, файлы результата — в локальных папках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3456000"/>
            <a:ext cx="7848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E04E39"/>
                </a:solidFill>
                <a:latin typeface="Arial"/>
              </a:rPr>
              <a:t>Цель проекта: </a:t>
            </a:r>
            <a:r>
              <a:rPr sz="1100" b="0">
                <a:solidFill>
                  <a:srgbClr val="00313C"/>
                </a:solidFill>
                <a:latin typeface="Arial"/>
              </a:rPr>
              <a:t>разгрузить поддержку и дать бизнесу инструмент самостоятельного выполнения типовых операций — без заявки. Эффект: меньше обращений на ФА, меньше время выполнения, корректная обратная связь по срокам внедрения банка и выдачи доступов.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Решение: self-service портал для бизнеса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90000"/>
            <a:ext cx="784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Docker-стенд (React + Spring Boot + PostgreSQL): скрипты адаптированы и загружены в портал. Бизнес-заказчик сам запускает готовую задачу через веб-форму — без заявки и без участия поддержки.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0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Самообслуживание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Бизнес выбирает готовую задачу и запускает сам: 6 категорий эталонных ролей × 7 банков + «Генерация ЭЦП»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867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667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Массовый ввод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667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Счета/ЭЦП списком через запятую — на каждое значение автоматически отдельный JSON-файл, несколько файлов — одним zip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494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8C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294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Общая история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94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Страница «История»: кто, когда и что сгенерировал; результат доступен для повторного скачивания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100" y="1548000"/>
            <a:ext cx="2007900" cy="1800000"/>
          </a:xfrm>
          <a:prstGeom prst="roundRect">
            <a:avLst>
              <a:gd name="adj" fmla="val 1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2100" y="1728000"/>
            <a:ext cx="16479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Роли и аудит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2100" y="2088000"/>
            <a:ext cx="1647900" cy="11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FFFFFF"/>
                </a:solidFill>
                <a:latin typeface="Arial"/>
              </a:rPr>
              <a:t>Бизнес-заказчик запускает; администратор портала ведёт каталог скриптов. Каждое действие — в журнале аудита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3491999"/>
            <a:ext cx="7848000" cy="4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313C"/>
                </a:solidFill>
                <a:latin typeface="Arial"/>
              </a:rPr>
              <a:t>Защита от ошибочного ввода: </a:t>
            </a:r>
            <a:r>
              <a:rPr sz="1100" b="0">
                <a:solidFill>
                  <a:srgbClr val="00313C"/>
                </a:solidFill>
                <a:latin typeface="Arial"/>
              </a:rPr>
              <a:t>запрос, отправленный из портала, проходит согласование в целевой системе — проверяет и подтверждает ДРУГОЙ ответственный сотрудник от бизнеса с правами «подтверждающий изменения», не тот, кто отправлял. Изменения применяются только после согласования (принцип «четырёх глаз»).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000" y="4158000"/>
            <a:ext cx="7848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Фирменный интерфейс СИБУР · развёртывание одной командой (deploy.bat) · офлайн-пакет для переноса на другие ПК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313C"/>
                </a:solidFill>
                <a:latin typeface="Arial"/>
              </a:rPr>
              <a:t>Персоны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24000" y="1044000"/>
            <a:ext cx="4170600" cy="2664000"/>
          </a:xfrm>
          <a:prstGeom prst="roundRect">
            <a:avLst>
              <a:gd name="adj" fmla="val 6756"/>
            </a:avLst>
          </a:prstGeom>
          <a:noFill/>
          <a:ln w="127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8000" y="1224000"/>
            <a:ext cx="37386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Бизнес-заказчик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584000"/>
            <a:ext cx="3738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роль BUSINESS_USER · главный герой CJM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854000"/>
            <a:ext cx="37386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00313C"/>
                </a:solidFill>
                <a:latin typeface="Arial"/>
              </a:rPr>
              <a:t>Сам запускает готовые скрипты через портал — без заявки в поддержку: выдача прав на счета, валютный контроль, регистрация ЭЦП. Хочет сделать типовую операцию сразу, когда она понадобилась, и не зависеть от очереди и загрузки поддержки.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00313C"/>
                </a:solidFill>
                <a:latin typeface="Arial"/>
              </a:rPr>
              <a:t>Не пишет и не правит скрипты — только выбирает готовую задачу, вводит данные и забирает результат.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49400" y="1044000"/>
            <a:ext cx="4170600" cy="2664000"/>
          </a:xfrm>
          <a:prstGeom prst="roundRect">
            <a:avLst>
              <a:gd name="adj" fmla="val 6756"/>
            </a:avLst>
          </a:prstGeom>
          <a:noFill/>
          <a:ln w="12700">
            <a:solidFill>
              <a:srgbClr val="008C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65400" y="1224000"/>
            <a:ext cx="37386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Администратор портала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65400" y="1584000"/>
            <a:ext cx="37386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роль ADMIN · сотрудник поддержки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5400" y="1854000"/>
            <a:ext cx="3738600" cy="176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00313C"/>
                </a:solidFill>
                <a:latin typeface="Arial"/>
              </a:rPr>
              <a:t>Ведёт каталог: добавляет новые скрипты и правит существующие, настраивает параметры форм, включает и отключает задачи, управляет пользователями и доступом.</a:t>
            </a:r>
          </a:p>
          <a:p>
            <a:pPr algn="l">
              <a:lnSpc>
                <a:spcPct val="115000"/>
              </a:lnSpc>
              <a:spcAft>
                <a:spcPts val="800"/>
              </a:spcAft>
            </a:pPr>
            <a:r>
              <a:rPr sz="1000" b="0">
                <a:solidFill>
                  <a:srgbClr val="00313C"/>
                </a:solidFill>
                <a:latin typeface="Arial"/>
              </a:rPr>
              <a:t>Не выполняет типовые заявки вручную — вместо этого обеспечивает, чтобы бизнес мог выполнить их сам. Подключается только к нестандартным случаям.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3851999"/>
            <a:ext cx="7848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Две роли: BUSINESS_USER — самостоятельное выполнение готовых задач; ADMIN — администрирование портала и каталога скриптов. Цель — разгрузить поддержку: типовые операции бизнес выполняет сам, поддержка занимается развитием каталога и нестандартными случаями.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CJM «как было»: путь бизнес-заказчика через заявку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2799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10799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Возникает потребность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72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652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Оформление заявки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16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6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Ожидание в очереди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60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40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Исполнение поддержкой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04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84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Получение результата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1450800"/>
            <a:ext cx="1224000" cy="846000"/>
          </a:xfrm>
          <a:prstGeom prst="roundRect">
            <a:avLst>
              <a:gd name="adj" fmla="val 21276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1450800"/>
            <a:ext cx="8640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Действия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2799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799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Нужно выдать права на счета / зарегистрировать ЭЦП при внедрении банка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72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52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Описывает задачу своими словами, заводит заявку в ITSM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16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96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Ждёт, пока заявку возьмут в работу; уточняет статус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60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40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Сотрудник поддержки ищет и запускает скрипт на сервере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04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84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Получает файлы письмом, проверяет и передаёт дальше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000" y="2451600"/>
            <a:ext cx="1224000" cy="450000"/>
          </a:xfrm>
          <a:prstGeom prst="roundRect">
            <a:avLst>
              <a:gd name="adj" fmla="val 32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2451600"/>
            <a:ext cx="864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Инструменты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2799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799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72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52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ITSM, почта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16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96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ITSM (статус заявки)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660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40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вне зоны видимости бизнеса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204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84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Почта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000" y="3056400"/>
            <a:ext cx="1224000" cy="900000"/>
          </a:xfrm>
          <a:prstGeom prst="roundRect">
            <a:avLst>
              <a:gd name="adj" fmla="val 20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3056400"/>
            <a:ext cx="864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Боли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2799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10799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Не знает точно, какая задача нужна и какие данные потребуются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72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52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Заявка в свободной форме: часть данных не указана — круги уточнений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16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196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Срок зависит от загрузки поддержки: типовая операция ждёт наравне со сложными задачами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660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40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Не видит, что происходит; ошибка в данных — заявка возвращается, цикл повторяется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204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84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При повторной потребности — снова заявка; истории прошлых запусков у бизнеса нет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4000" y="4111200"/>
            <a:ext cx="1224000" cy="306000"/>
          </a:xfrm>
          <a:prstGeom prst="roundRect">
            <a:avLst>
              <a:gd name="adj" fmla="val 47058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000" y="4111200"/>
            <a:ext cx="864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Эмоция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02799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10799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Неясность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572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52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Рутина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116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96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Ожидание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660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40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Беспомощность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204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84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E04E39"/>
                </a:solidFill>
                <a:latin typeface="Arial"/>
              </a:rPr>
              <a:t>Зависимость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313C"/>
                </a:solidFill>
                <a:latin typeface="Arial"/>
              </a:rPr>
              <a:t>CJM «как стало»: бизнес-заказчик выполняет сам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02799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10799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Возникает потребность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572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652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Выбор задачи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16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96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Ввод данных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60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740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Запуск и согласование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0400" y="936000"/>
            <a:ext cx="1299600" cy="360000"/>
          </a:xfrm>
          <a:prstGeom prst="roundRect">
            <a:avLst>
              <a:gd name="adj" fmla="val 40000"/>
            </a:avLst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8400" y="936000"/>
            <a:ext cx="10836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Arial"/>
              </a:rPr>
              <a:t>Результат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000" y="1450800"/>
            <a:ext cx="1224000" cy="846000"/>
          </a:xfrm>
          <a:prstGeom prst="roundRect">
            <a:avLst>
              <a:gd name="adj" fmla="val 21276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000" y="1450800"/>
            <a:ext cx="8640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Действия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02799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10799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Открывает портал и видит каталог задач, которые может выполнить сам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572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52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Выбирает категорию (эталонная роль) и банк из готового списка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16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196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Заполняет одну форму: счета / ЭЦП списком через запятую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60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40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Нажимает «Запустить» — запрос уходит в целевую систему на согласование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20400" y="1450800"/>
            <a:ext cx="1299600" cy="846000"/>
          </a:xfrm>
          <a:prstGeom prst="roundRect">
            <a:avLst>
              <a:gd name="adj" fmla="val 21276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28400" y="1450800"/>
            <a:ext cx="1083600" cy="84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После согласования изменения применены; файлы — в «Истории»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000" y="2451600"/>
            <a:ext cx="1224000" cy="450000"/>
          </a:xfrm>
          <a:prstGeom prst="roundRect">
            <a:avLst>
              <a:gd name="adj" fmla="val 32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000" y="2451600"/>
            <a:ext cx="8640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Инструменты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702799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10799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Браузер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572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652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Портал: плашки категорий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116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96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Веб-форма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660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40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Портал + согласование в целевой системе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20400" y="2451600"/>
            <a:ext cx="1299600" cy="450000"/>
          </a:xfrm>
          <a:prstGeom prst="roundRect">
            <a:avLst>
              <a:gd name="adj" fmla="val 32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8400" y="2451600"/>
            <a:ext cx="1083600" cy="45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Портал: скачивание (zip), «История»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4000" y="3056400"/>
            <a:ext cx="1224000" cy="900000"/>
          </a:xfrm>
          <a:prstGeom prst="roundRect">
            <a:avLst>
              <a:gd name="adj" fmla="val 20000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8000" y="3056400"/>
            <a:ext cx="8640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Что улучшилось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702799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10799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Видно, что можно сделать самостоятельно — заявка не нужна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1572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652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Не нужно формулировать словами: выбор из готовых задач за 2 клика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116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196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Форма задаёт структуру данных — нечего забыть, ошибиться сложнее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660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40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Защита от ошибки: согласует другой ответственный от бизнеса — не тот, кто отправил («четыре глаза»)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20400" y="3056400"/>
            <a:ext cx="1299600" cy="900000"/>
          </a:xfrm>
          <a:prstGeom prst="roundRect">
            <a:avLst>
              <a:gd name="adj" fmla="val 2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8400" y="3056400"/>
            <a:ext cx="1083600" cy="90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Повторно — сам, без новой заявки; поддержка нужна только для нестандартных случаев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4000" y="4111200"/>
            <a:ext cx="1224000" cy="306000"/>
          </a:xfrm>
          <a:prstGeom prst="roundRect">
            <a:avLst>
              <a:gd name="adj" fmla="val 47058"/>
            </a:avLst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8000" y="4111200"/>
            <a:ext cx="8640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313C"/>
                </a:solidFill>
                <a:latin typeface="Arial"/>
              </a:rPr>
              <a:t>Эмоция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702799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10799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Ясность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1572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652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Уверенность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6116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196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Контроль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0660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740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Защищённость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20400" y="4111200"/>
            <a:ext cx="1299600" cy="306000"/>
          </a:xfrm>
          <a:prstGeom prst="roundRect">
            <a:avLst>
              <a:gd name="adj" fmla="val 47058"/>
            </a:avLst>
          </a:prstGeom>
          <a:noFill/>
          <a:ln w="635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28400" y="4111200"/>
            <a:ext cx="1083600" cy="306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Автономность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8000" y="338400"/>
            <a:ext cx="7848000" cy="68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313C"/>
                </a:solidFill>
                <a:latin typeface="Arial"/>
              </a:rPr>
              <a:t>Эффект: поддержка разгружена, бизнес автономен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8000" y="972000"/>
            <a:ext cx="7848000" cy="39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Типовые операции бизнес выполняет сам, без заявки: меньше обращений на ФА, короче время выполнения, корректная обратная связь по срокам внедрения банка и выдачи доступов.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80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8C95"/>
                </a:solidFill>
                <a:latin typeface="Arial"/>
              </a:rPr>
              <a:t>0</a:t>
            </a:r>
            <a:r>
              <a:rPr sz="1600" b="0">
                <a:solidFill>
                  <a:srgbClr val="008C95"/>
                </a:solidFill>
                <a:latin typeface="Arial"/>
              </a:rPr>
              <a:t> заявок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на типовую операцию: бизнес запускает готовую задачу самостоятельно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87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313C"/>
                </a:solidFill>
                <a:latin typeface="Arial"/>
              </a:rPr>
              <a:t>40+</a:t>
            </a:r>
            <a:r>
              <a:rPr sz="1600" b="0">
                <a:solidFill>
                  <a:srgbClr val="00313C"/>
                </a:solidFill>
                <a:latin typeface="Arial"/>
              </a:rPr>
              <a:t> задач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487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доступно для самообслуживания: 6 эталонных ролей × 7 банков + генерация ЭЦП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94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8C95"/>
                </a:solidFill>
                <a:latin typeface="Arial"/>
              </a:rPr>
              <a:t>2</a:t>
            </a:r>
            <a:r>
              <a:rPr sz="1600" b="0">
                <a:solidFill>
                  <a:srgbClr val="008C95"/>
                </a:solidFill>
                <a:latin typeface="Arial"/>
              </a:rPr>
              <a:t> клика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94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до нужной задачи: категория → банк, вместо описания заявки словами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50100" y="1512000"/>
            <a:ext cx="1845900" cy="50832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313C"/>
                </a:solidFill>
                <a:latin typeface="Arial"/>
              </a:rPr>
              <a:t>100</a:t>
            </a:r>
            <a:r>
              <a:rPr sz="1600" b="0">
                <a:solidFill>
                  <a:srgbClr val="00313C"/>
                </a:solidFill>
                <a:latin typeface="Arial"/>
              </a:rPr>
              <a:t> 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0100" y="2020320"/>
            <a:ext cx="18459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00313C"/>
                </a:solidFill>
                <a:latin typeface="Arial"/>
              </a:rPr>
              <a:t>запусков фиксируются в общей истории и журнале аудита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3131999"/>
            <a:ext cx="7848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313C"/>
                </a:solidFill>
                <a:latin typeface="Arial"/>
              </a:rPr>
              <a:t>Дальнейшие шаги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3420000"/>
            <a:ext cx="7848000" cy="57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0313C"/>
                </a:solidFill>
                <a:latin typeface="Arial"/>
              </a:rPr>
              <a:t>Переход на доменную авторизацию (AD) · автоматическая блокировка при подборе пароля · мониторинг и алертинг · резервное копирование · интеграция отправки результатов на фронт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000" y="4068000"/>
            <a:ext cx="8496000" cy="21600"/>
          </a:xfrm>
          <a:prstGeom prst="rect">
            <a:avLst/>
          </a:prstGeom>
          <a:solidFill>
            <a:srgbClr val="77E2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000" y="4212000"/>
            <a:ext cx="7848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08C95"/>
                </a:solidFill>
                <a:latin typeface="Arial"/>
              </a:rPr>
              <a:t>Портал развёрнут и используется; исходники, документация (HLD, CJM) и офлайн-пакет для тиражирования — в комплекте проекта.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000" y="4759200"/>
            <a:ext cx="43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Админ-панель поддержки НРД — CJM и описание потребности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68400" y="4759200"/>
            <a:ext cx="54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BFBFBF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
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4000" y="3744000"/>
            <a:ext cx="2160000" cy="43200"/>
          </a:xfrm>
          <a:prstGeom prst="rect">
            <a:avLst/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475999"/>
            <a:ext cx="7848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Админ-панель поддержки НРД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196000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77E2C3"/>
                </a:solidFill>
                <a:latin typeface="Arial"/>
              </a:rPr>
              <a:t>CJM и описание потребности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3960000"/>
            <a:ext cx="7848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СИБУР · ИТ-поддержка НРД/Транзит 2.0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Август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Потребность: ручной запуск скриптов поддержки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90000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Выдача прав доступа на счета, валютный контроль, регистрация ЭЦП — десятки типовых операций выполнялись запуском PowerShell/Python-скриптов вручную на серверах, без единой точки входа и аудита.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Скрипты разбросаны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Десятки ps1 / python / bash-скриптов по папкам и личным архивам; версии у коллег расходятся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67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67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Доступ через RDP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7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Широкий доступ к серверам ради запуска одного скрипта — риск безопасности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94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94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Интерактивный ввод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94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Read-Host / input(): ручной ввод в консоли сервера, ошибки копипасты; результат — в зашитую в скрипте папку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1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21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Нет единой истории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21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Кто и когда сгенерировал — только по свойствам файла; единого журнала нет, файлы результата — в локальных папках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3456000"/>
            <a:ext cx="7848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E39"/>
                </a:solidFill>
                <a:latin typeface="Arial"/>
              </a:rPr>
              <a:t>Следствие: </a:t>
            </a:r>
            <a:r>
              <a:rPr sz="1100" b="0">
                <a:solidFill>
                  <a:srgbClr val="00313C"/>
                </a:solidFill>
                <a:latin typeface="Arial"/>
              </a:rPr>
              <a:t>рост числа обращений на ФА и времени выполнения задач; бизнес не получает корректной обратной связи по срокам внедрения банка и выдачи доступов.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Решение: единый портал запуска скриптов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90000"/>
            <a:ext cx="784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Docker-стенд (React + Spring Boot + PostgreSQL): скрипты адаптированы и загружены в портал, запускаются через веб-форму с ролевым доступом, все результаты — в общей истории.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Каталог задач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6 категорий эталонных ролей × 7 банков + «Генерация ЭЦП» — выбор в 2 клика, всегда актуальная версия скрипта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67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67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Массовый ввод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7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Счета/ЭЦП списком через запятую — на каждое значение автоматически отдельный JSON-файл, несколько файлов — одним zip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94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94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Общая история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94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Страница «История»: кто, когда и что сгенерировал; скачать результат может любой сотрудник поддержки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1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21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Роли и аудит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21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Администратор и бизнес-пользователь; каждое действие — в журнале аудита БД; вход по логину/паролю (далее — 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3491999"/>
            <a:ext cx="7848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313C"/>
                </a:solidFill>
                <a:latin typeface="Arial"/>
              </a:rPr>
              <a:t>Митигация рисков: </a:t>
            </a:r>
            <a:r>
              <a:rPr sz="1100" b="0">
                <a:solidFill>
                  <a:srgbClr val="00313C"/>
                </a:solidFill>
                <a:latin typeface="Arial"/>
              </a:rPr>
              <a:t>все изменения, инициированные через админ-панель, требуют обязательного подтверждения сотрудником ПФ с правами «подтверждающий изменения» на стороне конечной системы.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014000"/>
            <a:ext cx="784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Фирменный интерфейс СИБУР · развёртывание одной командой (deploy.bat) · офлайн-пакет для переноса на другие ПК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313C"/>
                </a:solidFill>
                <a:latin typeface="Arial"/>
              </a:rPr>
              <a:t>Персоны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1080000"/>
            <a:ext cx="2728800" cy="2736000"/>
          </a:xfrm>
          <a:prstGeom prst="roundRect">
            <a:avLst>
              <a:gd name="adj" fmla="val 659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260000"/>
            <a:ext cx="23688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Сотрудник поддержки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65999"/>
            <a:ext cx="23688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BUSINESS_USER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835999"/>
            <a:ext cx="2368800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Исполняет заявки бизнеса: права на счета, валютный контроль, ЭЦП. Хочет быстро найти нужную задачу, не думать о синтаксисе скриптов и не собирать файлы вручную.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7600" y="1080000"/>
            <a:ext cx="2728800" cy="2736000"/>
          </a:xfrm>
          <a:prstGeom prst="roundRect">
            <a:avLst>
              <a:gd name="adj" fmla="val 659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7600" y="1260000"/>
            <a:ext cx="23688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Администратор 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7600" y="1565999"/>
            <a:ext cx="23688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7600" y="1835999"/>
            <a:ext cx="2368800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Отвечает за портал: заводит пользователей, добавляет/отключает скрипты, управляет уровнем логирования. Хочет контролируемую среду вместо «скриптов по папкам».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1200" y="1080000"/>
            <a:ext cx="2728800" cy="2736000"/>
          </a:xfrm>
          <a:prstGeom prst="roundRect">
            <a:avLst>
              <a:gd name="adj" fmla="val 659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1200" y="1260000"/>
            <a:ext cx="23688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Руководитель поддержки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1200" y="1565999"/>
            <a:ext cx="23688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наблюдатель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1200" y="1835999"/>
            <a:ext cx="2368800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Отвечает за SLA и прозрачность. Хочет видеть, кто и что выполнял, находить результаты прошлых запусков и передавать работу между сотрудниками без потерь.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CJM «как было»: путь сотрудника до портала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2799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10799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Заявка от бизнеса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72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652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Поиск скрипта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16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6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Ввод данных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60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40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Запуск и результат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04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84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Передача и отчёт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1450800"/>
            <a:ext cx="1224000" cy="846000"/>
          </a:xfrm>
          <a:prstGeom prst="roundRect">
            <a:avLst>
              <a:gd name="adj" fmla="val 21276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1450800"/>
            <a:ext cx="8640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Действия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2799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799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Получает просьбу в почте или мессенджере, уточняет детали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72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52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Ищет нужный скрипт (ps1 / py / bash) в сетевых папках или у коллег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16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96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Вводит данные в консоли сервера в приглашения Read-Host / input()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60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40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Запускает на сервере через RDP, собирает файлы по папкам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04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84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Отправляет файлы вручную, фиксирует «для себя»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000" y="2451600"/>
            <a:ext cx="1224000" cy="450000"/>
          </a:xfrm>
          <a:prstGeom prst="roundRect">
            <a:avLst>
              <a:gd name="adj" fmla="val 32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2451600"/>
            <a:ext cx="864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Инструменты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799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799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Почта, Telegram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72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52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Сетевые диски, RDP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16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96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Консоль PowerShell / Python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660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40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RDP, проводник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204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84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Почта, личные папки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000" y="3056400"/>
            <a:ext cx="1224000" cy="900000"/>
          </a:xfrm>
          <a:prstGeom prst="roundRect">
            <a:avLst>
              <a:gd name="adj" fmla="val 20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3056400"/>
            <a:ext cx="864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Боли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2799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0799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Заявки теряются, нет единой очереди и статуса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72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52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Версии скриптов расходятся; новичку не разобраться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16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96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Ручной ввод в консоли, ошибки копипасты; результат — в зашитую в скрипте папку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660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40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Широкий доступ к серверу ради одного скрипта; файлы разбросаны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204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84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Единого журнала нет: автор и время — только по свойствам файла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4000" y="4111200"/>
            <a:ext cx="1224000" cy="306000"/>
          </a:xfrm>
          <a:prstGeom prst="roundRect">
            <a:avLst>
              <a:gd name="adj" fmla="val 47058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000" y="4111200"/>
            <a:ext cx="864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Эмоция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02799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10799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Растерянность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572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52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Раздражение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116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96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Рутина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60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40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Напряжение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204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84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Неуверенность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CJM «как стало»: тот же путь через портал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2799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10799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Заявка от бизнеса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72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652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Поиск скрипта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16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6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Ввод данных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60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40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Запуск и результат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04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84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Передача и отчёт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1450800"/>
            <a:ext cx="1224000" cy="846000"/>
          </a:xfrm>
          <a:prstGeom prst="roundRect">
            <a:avLst>
              <a:gd name="adj" fmla="val 21276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1450800"/>
            <a:ext cx="8640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Действия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2799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799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Открывает портал, видит каталог доступных задач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72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52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Выбирает категорию (эталонная роль) и банк из списка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16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96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Заполняет одну форму: счета/ЭЦП списком через запятую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60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40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Нажимает «Запустить» — статус и результат на экране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04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84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Результат уже в общей «Истории», доступен коллегам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000" y="2451600"/>
            <a:ext cx="1224000" cy="450000"/>
          </a:xfrm>
          <a:prstGeom prst="roundRect">
            <a:avLst>
              <a:gd name="adj" fmla="val 32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2451600"/>
            <a:ext cx="864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Инструменты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799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799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Браузер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72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52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Портал: плашки категорий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16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96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Веб-форма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660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40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Портал: статус, скачивание (zip)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204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84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Портал: «История», аудит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000" y="3056400"/>
            <a:ext cx="1224000" cy="900000"/>
          </a:xfrm>
          <a:prstGeom prst="roundRect">
            <a:avLst>
              <a:gd name="adj" fmla="val 20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3056400"/>
            <a:ext cx="864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Что улучшилось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2799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0799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Единая точка входа вместо почты и мессенджеров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72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52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Всегда актуальная версия скрипта; выбор за 2 клика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16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96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 каждое значение — отдельный файл автоматически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660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40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Без RDP; несколько файлов скачиваются одним zip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204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84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Кто/когда/что — видно всем; передача работы без потерь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4000" y="4111200"/>
            <a:ext cx="1224000" cy="306000"/>
          </a:xfrm>
          <a:prstGeom prst="roundRect">
            <a:avLst>
              <a:gd name="adj" fmla="val 47058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000" y="4111200"/>
            <a:ext cx="864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Эмоция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02799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10799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Ясность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572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52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Уверенность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116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96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Скорость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60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40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Спокойствие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204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84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Прозрачность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313C"/>
                </a:solidFill>
                <a:latin typeface="Arial"/>
              </a:rPr>
              <a:t>Эффект для команды поддержки и бизнеса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72000"/>
            <a:ext cx="784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Целевой эффект: сокращение числа обращений на ФА и времени выполнения задач; бизнес получает корректную обратную связь по срокам внедрения банка и выдачи доступов.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8C95"/>
                </a:solidFill>
                <a:latin typeface="Arial"/>
              </a:rPr>
              <a:t>2</a:t>
            </a:r>
            <a:r>
              <a:rPr sz="1600" b="0">
                <a:solidFill>
                  <a:srgbClr val="008C95"/>
                </a:solidFill>
                <a:latin typeface="Arial"/>
              </a:rPr>
              <a:t> клика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до нужного скрипта: категория → банк вместо поиска по папкам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87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313C"/>
                </a:solidFill>
                <a:latin typeface="Arial"/>
              </a:rPr>
              <a:t>40+</a:t>
            </a:r>
            <a:r>
              <a:rPr sz="1600" b="0">
                <a:solidFill>
                  <a:srgbClr val="00313C"/>
                </a:solidFill>
                <a:latin typeface="Arial"/>
              </a:rPr>
              <a:t> скриптов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87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 едином каталоге: 6 эталонных ролей × 7 банков + генерация ЭЦП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94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8C95"/>
                </a:solidFill>
                <a:latin typeface="Arial"/>
              </a:rPr>
              <a:t>1</a:t>
            </a:r>
            <a:r>
              <a:rPr sz="1600" b="0">
                <a:solidFill>
                  <a:srgbClr val="008C95"/>
                </a:solidFill>
                <a:latin typeface="Arial"/>
              </a:rPr>
              <a:t> файл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94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 каждый счёт или ЭЦП — формируется автоматически, много файлов = один 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01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313C"/>
                </a:solidFill>
                <a:latin typeface="Arial"/>
              </a:rPr>
              <a:t>100</a:t>
            </a:r>
            <a:r>
              <a:rPr sz="1600" b="0">
                <a:solidFill>
                  <a:srgbClr val="00313C"/>
                </a:solidFill>
                <a:latin typeface="Arial"/>
              </a:rPr>
              <a:t> 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01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запусков фиксируются в общей истории и журнале аудита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3131999"/>
            <a:ext cx="78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Дальнейшие шаги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3420000"/>
            <a:ext cx="7848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Переход на доменную авторизацию (AD) · автоматическая блокировка при подборе пароля · мониторинг и алертинг · резервное копирование · интеграция отправки результатов на фронт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4068000"/>
            <a:ext cx="8496000" cy="21600"/>
          </a:xfrm>
          <a:prstGeom prst="rect">
            <a:avLst/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" y="4212000"/>
            <a:ext cx="784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Портал развёрнут и используется; исходники, документация (HLD, CJM) и офлайн-пакет для тиражирования — в комплекте проекта.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